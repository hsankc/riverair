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40ce21a80_2_2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3f40ce21a80_2_2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Hoş geldiniz. Online cohort'un açılışı - bu iki hafta boyunca ne yapacağımızı anlatacağım.</a:t>
            </a:r>
            <a:endParaRPr sz="900"/>
          </a:p>
        </p:txBody>
      </p:sp>
      <p:sp>
        <p:nvSpPr>
          <p:cNvPr id="55" name="Google Shape;55;g3f40ce21a80_2_2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40ce21a80_2_16:notes"/>
          <p:cNvSpPr/>
          <p:nvPr>
            <p:ph idx="2" type="sldImg"/>
          </p:nvPr>
        </p:nvSpPr>
        <p:spPr>
          <a:xfrm>
            <a:off x="457200" y="571500"/>
            <a:ext cx="3657600" cy="15430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g3f40ce21a80_2_16:notes"/>
          <p:cNvSpPr txBox="1"/>
          <p:nvPr>
            <p:ph idx="1" type="body"/>
          </p:nvPr>
        </p:nvSpPr>
        <p:spPr>
          <a:xfrm>
            <a:off x="457200" y="2200275"/>
            <a:ext cx="3657600" cy="1800225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67" name="Google Shape;67;g3f40ce21a80_2_16:notes"/>
          <p:cNvSpPr txBox="1"/>
          <p:nvPr>
            <p:ph idx="12" type="sldNum"/>
          </p:nvPr>
        </p:nvSpPr>
        <p:spPr>
          <a:xfrm>
            <a:off x="2589742" y="4342607"/>
            <a:ext cx="1981200" cy="229393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af00d6e0_1_1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g3fbaf00d6e0_1_1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75" name="Google Shape;75;g3fbaf00d6e0_1_1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af00d6e0_1_8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g3fbaf00d6e0_1_8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83" name="Google Shape;83;g3fbaf00d6e0_1_8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af00d6e0_1_15:notes"/>
          <p:cNvSpPr/>
          <p:nvPr>
            <p:ph idx="2" type="sldImg"/>
          </p:nvPr>
        </p:nvSpPr>
        <p:spPr>
          <a:xfrm>
            <a:off x="457200" y="571500"/>
            <a:ext cx="3657600" cy="15432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fbaf00d6e0_1_15:notes"/>
          <p:cNvSpPr txBox="1"/>
          <p:nvPr>
            <p:ph idx="1" type="body"/>
          </p:nvPr>
        </p:nvSpPr>
        <p:spPr>
          <a:xfrm>
            <a:off x="457200" y="2200275"/>
            <a:ext cx="3657600" cy="18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27925" lIns="55875" spcFirstLastPara="1" rIns="55875" wrap="square" tIns="27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/>
              <a:t>Tüm takvim tek ekranda: iki online oturum, ardından İstanbul'da residency ve hackathon.</a:t>
            </a:r>
            <a:endParaRPr sz="900"/>
          </a:p>
        </p:txBody>
      </p:sp>
      <p:sp>
        <p:nvSpPr>
          <p:cNvPr id="91" name="Google Shape;91;g3fbaf00d6e0_1_15:notes"/>
          <p:cNvSpPr txBox="1"/>
          <p:nvPr>
            <p:ph idx="12" type="sldNum"/>
          </p:nvPr>
        </p:nvSpPr>
        <p:spPr>
          <a:xfrm>
            <a:off x="2589742" y="4342607"/>
            <a:ext cx="1981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b" bIns="27925" lIns="55875" spcFirstLastPara="1" rIns="55875" wrap="square" tIns="279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/>
              <a:t>‹#›</a:t>
            </a:fld>
            <a:endParaRPr sz="900"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A1509"/>
              </a:gs>
              <a:gs pos="42000">
                <a:srgbClr val="12090A"/>
              </a:gs>
              <a:gs pos="100000">
                <a:srgbClr val="070503"/>
              </a:gs>
            </a:gsLst>
            <a:path path="circle">
              <a:fillToRect b="100%" l="100%" r="0%" t="0%"/>
            </a:path>
            <a:tileRect b="0%" l="0%" r="-100%" t="-100%"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5"/>
          <p:cNvSpPr/>
          <p:nvPr/>
        </p:nvSpPr>
        <p:spPr>
          <a:xfrm>
            <a:off x="2428875" y="0"/>
            <a:ext cx="4286400" cy="2952900"/>
          </a:xfrm>
          <a:prstGeom prst="rect">
            <a:avLst/>
          </a:prstGeom>
          <a:gradFill>
            <a:gsLst>
              <a:gs pos="0">
                <a:srgbClr val="E8C87A">
                  <a:alpha val="20000"/>
                </a:srgbClr>
              </a:gs>
              <a:gs pos="70000">
                <a:srgbClr val="E8C87A">
                  <a:alpha val="0"/>
                </a:srgbClr>
              </a:gs>
              <a:gs pos="100000">
                <a:srgbClr val="E8C87A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9" name="Google Shape;5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57200"/>
            <a:ext cx="1841488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/>
          <p:nvPr/>
        </p:nvSpPr>
        <p:spPr>
          <a:xfrm>
            <a:off x="571500" y="1768152"/>
            <a:ext cx="6131719" cy="1526233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1149"/>
              </a:lnSpc>
              <a:spcBef>
                <a:spcPts val="0"/>
              </a:spcBef>
              <a:spcAft>
                <a:spcPts val="0"/>
              </a:spcAft>
              <a:buClr>
                <a:srgbClr val="F7E4B0"/>
              </a:buClr>
              <a:buSzPts val="6500"/>
              <a:buFont typeface="Georgia"/>
              <a:buNone/>
            </a:pPr>
            <a:r>
              <a:rPr b="1" i="0" lang="en" sz="6500" u="none" cap="none" strike="noStrike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PRO</a:t>
            </a:r>
            <a:r>
              <a:rPr b="1" lang="en" sz="65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b="1" i="0" lang="en" sz="6500" u="none" cap="none" strike="noStrike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HACKATHON</a:t>
            </a:r>
            <a:endParaRPr b="0" i="0" sz="6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571500" y="3638475"/>
            <a:ext cx="571500" cy="4763"/>
          </a:xfrm>
          <a:prstGeom prst="rect">
            <a:avLst/>
          </a:prstGeom>
          <a:gradFill>
            <a:gsLst>
              <a:gs pos="0">
                <a:srgbClr val="D9A94E"/>
              </a:gs>
              <a:gs pos="100000">
                <a:srgbClr val="D9A94E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571500" y="4505325"/>
            <a:ext cx="3000249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E7D5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7157777" y="4505325"/>
            <a:ext cx="1556195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08A45"/>
              </a:buClr>
              <a:buSzPts val="1000"/>
              <a:buFont typeface="Arial"/>
              <a:buNone/>
            </a:pPr>
            <a:r>
              <a:rPr lang="en" sz="1000">
                <a:solidFill>
                  <a:srgbClr val="B08A45"/>
                </a:solidFill>
              </a:rPr>
              <a:t>19-20 September,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6"/>
          <p:cNvSpPr/>
          <p:nvPr/>
        </p:nvSpPr>
        <p:spPr>
          <a:xfrm>
            <a:off x="571500" y="419100"/>
            <a:ext cx="3293400" cy="6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8038"/>
              </a:lnSpc>
              <a:spcBef>
                <a:spcPts val="0"/>
              </a:spcBef>
              <a:spcAft>
                <a:spcPts val="0"/>
              </a:spcAft>
              <a:buClr>
                <a:srgbClr val="F7E4B0"/>
              </a:buClr>
              <a:buSzPts val="3500"/>
              <a:buFont typeface="Georgia"/>
              <a:buNone/>
            </a:pPr>
            <a:r>
              <a:rPr b="1" i="0" lang="en" sz="3500" u="none" cap="none" strike="noStrike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</a:t>
            </a:r>
            <a:r>
              <a:rPr b="1" lang="en" sz="35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Solution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514350" y="1085400"/>
            <a:ext cx="7686600" cy="29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An agentic drone network where the aircraft is the business.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It reads the job board, takes the work it is rated for, flies it, and settles its own payment. No dispatcher, no invoice, no company in the middle.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customer pays in lira. The operator is paid in lira. In between, a Soroban escrow that releases only when the work is done.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What is different: the escrow reads its price feed inside the payout call, so it can refuse.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And the key that signs the flight record is the account that gets paid. The same 32 bytes.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7"/>
          <p:cNvSpPr/>
          <p:nvPr/>
        </p:nvSpPr>
        <p:spPr>
          <a:xfrm>
            <a:off x="571500" y="419100"/>
            <a:ext cx="3293400" cy="6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8038"/>
              </a:lnSpc>
              <a:spcBef>
                <a:spcPts val="0"/>
              </a:spcBef>
              <a:spcAft>
                <a:spcPts val="0"/>
              </a:spcAft>
              <a:buClr>
                <a:srgbClr val="F7E4B0"/>
              </a:buClr>
              <a:buSzPts val="3500"/>
              <a:buFont typeface="Georgia"/>
              <a:buNone/>
            </a:pPr>
            <a:r>
              <a:rPr b="1" lang="en" sz="35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PMF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7"/>
          <p:cNvSpPr txBox="1"/>
          <p:nvPr/>
        </p:nvSpPr>
        <p:spPr>
          <a:xfrm>
            <a:off x="514350" y="1085400"/>
            <a:ext cx="7686600" cy="27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Turkey builds world-class drones and puts almost none of them to everyday work.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Autonomy stops at the airframe. An aircraft can fly the pattern — it cannot take the job, prove it flew it, or get paid for it.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For the two-person operation already licensed under SHT-İHA1 and İHA2.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They quote in lira while their costs sit in dollars, and the escrow that would cover the gap is built for far larger contracts.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Revenue is a take rate, charged where the escrow releases.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8"/>
          <p:cNvSpPr/>
          <p:nvPr/>
        </p:nvSpPr>
        <p:spPr>
          <a:xfrm>
            <a:off x="571500" y="419100"/>
            <a:ext cx="4953000" cy="6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8038"/>
              </a:lnSpc>
              <a:spcBef>
                <a:spcPts val="0"/>
              </a:spcBef>
              <a:spcAft>
                <a:spcPts val="0"/>
              </a:spcAft>
              <a:buClr>
                <a:srgbClr val="F7E4B0"/>
              </a:buClr>
              <a:buSzPts val="3500"/>
              <a:buFont typeface="Georgia"/>
              <a:buNone/>
            </a:pPr>
            <a:r>
              <a:rPr b="1" lang="en" sz="35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Technical Workflow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514350" y="1085400"/>
            <a:ext cx="7686600" cy="30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1.  Cash in — SEP-10 sign-in, SEP-6 deposit. Real testnet USDC reaches the customer's own wallet.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2.  Post — priced in lira, a SEP-38 quote locks the rate, USDC moves into the escrow.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3.  Claim — the nearest rated aircraft takes it. The contract records the key that signed.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4.  Settle — complete() reads Reflector first. Stale or depegged, it aborts and the funds stay locked.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5.  Cash out — SEP-6 withdraw, lira over FAST.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Live on Stellar testnet. Every action links to stellar.expert.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C0F08"/>
              </a:gs>
              <a:gs pos="55000">
                <a:srgbClr val="0B0605"/>
              </a:gs>
              <a:gs pos="100000">
                <a:srgbClr val="070503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25" lIns="45725" spcFirstLastPara="1" rIns="45725" wrap="square" tIns="4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571500" y="419100"/>
            <a:ext cx="4953000" cy="666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700" lIns="12700" spcFirstLastPara="1" rIns="12700" wrap="square" tIns="12700">
            <a:noAutofit/>
          </a:bodyPr>
          <a:lstStyle/>
          <a:p>
            <a:pPr indent="0" lvl="0" marL="0" marR="0" rtl="0" algn="l">
              <a:lnSpc>
                <a:spcPct val="88038"/>
              </a:lnSpc>
              <a:spcBef>
                <a:spcPts val="0"/>
              </a:spcBef>
              <a:spcAft>
                <a:spcPts val="0"/>
              </a:spcAft>
              <a:buClr>
                <a:srgbClr val="F7E4B0"/>
              </a:buClr>
              <a:buSzPts val="3500"/>
              <a:buFont typeface="Georgia"/>
              <a:buNone/>
            </a:pPr>
            <a:r>
              <a:rPr b="1" lang="en" sz="35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Team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514350" y="1085400"/>
            <a:ext cx="7686600" cy="3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Hasan Kaşıkcı — solo build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Soroban escrow contract, the anchor integration over SEP-1/6/10/12/38, the wallet layer and the payment flow end to end.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6666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800">
                <a:solidFill>
                  <a:srgbClr val="F7E4B0"/>
                </a:solidFill>
                <a:latin typeface="Georgia"/>
                <a:ea typeface="Georgia"/>
                <a:cs typeface="Georgia"/>
                <a:sym typeface="Georgia"/>
              </a:rPr>
              <a:t>The agentic fleet simulation, the operational interface, and the hardware node blueprint the edge is shaped around.</a:t>
            </a:r>
            <a:endParaRPr sz="1800">
              <a:solidFill>
                <a:srgbClr val="F7E4B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